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70" r:id="rId3"/>
    <p:sldId id="293" r:id="rId4"/>
    <p:sldId id="294" r:id="rId5"/>
    <p:sldId id="295" r:id="rId6"/>
    <p:sldId id="267" r:id="rId7"/>
    <p:sldId id="297" r:id="rId8"/>
    <p:sldId id="298" r:id="rId9"/>
    <p:sldId id="299" r:id="rId10"/>
    <p:sldId id="300" r:id="rId11"/>
  </p:sldIdLst>
  <p:sldSz cx="18288000" cy="10287000"/>
  <p:notesSz cx="6858000" cy="9144000"/>
  <p:embeddedFontLst>
    <p:embeddedFont>
      <p:font typeface="나눔바른고딕OTF" panose="020B0600000101010101" charset="-127"/>
      <p:regular r:id="rId13"/>
      <p:bold r:id="rId14"/>
    </p:embeddedFont>
    <p:embeddedFont>
      <p:font typeface="맑은 고딕" panose="020B0503020000020004" pitchFamily="50" charset="-127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5570"/>
    <a:srgbClr val="FCFDF8"/>
    <a:srgbClr val="B7DEE8"/>
    <a:srgbClr val="FF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372" autoAdjust="0"/>
    <p:restoredTop sz="97416" autoAdjust="0"/>
  </p:normalViewPr>
  <p:slideViewPr>
    <p:cSldViewPr>
      <p:cViewPr>
        <p:scale>
          <a:sx n="48" d="100"/>
          <a:sy n="48" d="100"/>
        </p:scale>
        <p:origin x="268" y="128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214A61-86A6-4C77-84A0-6AD6F7D33378}" type="datetimeFigureOut">
              <a:rPr lang="ko-KR" altLang="en-US" smtClean="0"/>
              <a:t>2026-03-13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C1448A-5C67-4B68-AB90-62D51394CB8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9585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A2C1A-BE88-4246-3146-496A3896B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F3B47FB-B515-8AB3-12AA-7911BB1BCE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FFB2339-EBBC-D94D-2F3E-D65A3D82B2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5777C88-FEE6-169E-6965-2175638247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C1448A-5C67-4B68-AB90-62D51394CB8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7007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1752A-030F-B62D-B478-61B5AFC9A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E6D1B91-B0C0-2074-064E-07D3CC628A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D6F2AA-20EC-3365-CD8E-32D4711908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36153A-E0EC-A866-A0E0-D40E0A0245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C1448A-5C67-4B68-AB90-62D51394CB89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27790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43EC5-AA89-B479-3622-4370DE69A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553E44B-3EC7-951A-9943-0C6AE8F2A1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CC7A727-1D37-0EF2-1C1E-35F27B99E0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A34A80-8C57-D687-1485-E4034653A79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C1448A-5C67-4B68-AB90-62D51394CB89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01160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36434-384F-422B-9510-C319346D11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48663DB-523D-9DD4-0098-FBDACB2B41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74FFB46-2837-D4B7-1367-0CA3DCBBD2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EBBD90-25BD-E338-F99F-97278F1BDD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C1448A-5C67-4B68-AB90-62D51394CB89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51933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55150-67E3-789A-ECAB-D4B0172BB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D3B5FF4-FF93-EC62-5A80-6233359DC2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3D0581B-2541-2EF7-52C4-83316F74E9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CB7251-4C9A-5E2E-FB3B-709BF4CE05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C1448A-5C67-4B68-AB90-62D51394CB89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90336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DB79A-0921-A18B-7BE3-E888D89E0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E4057BA-7A61-E13C-0E6E-74950EB81A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43859E6-64DB-C3D2-2FAA-9C624089C4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6B83AFB-6290-ACC8-A943-A50FE70D6F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C1448A-5C67-4B68-AB90-62D51394CB89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609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D04FA4-6F04-09CF-0208-232346783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EB35331-C7EC-D63D-9925-225E109AB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641332-ABF4-CE3B-C6BC-264F53EDEB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C08F93A-16A5-B0AE-5923-EC9DF60BE9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C1448A-5C67-4B68-AB90-62D51394CB89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34443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34C7A9-B0ED-1D67-8F8E-13BA85DFB1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F64BC19-6C5C-BEE1-9A43-AB44E6F20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F19228B5-73DB-C8CB-DA0C-08B736EE6A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2BFE99-58FC-CF38-4804-0B5A6E2AEE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C1448A-5C67-4B68-AB90-62D51394CB89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86618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20210330-12/COMP3011-Coursework1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20210330-12/COMP3011-Coursework1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github.com/20210330-12/COMP3011-Coursework1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6829553"/>
            <a:ext cx="16230600" cy="0"/>
          </a:xfrm>
          <a:prstGeom prst="line">
            <a:avLst/>
          </a:prstGeom>
          <a:ln w="19050" cap="flat">
            <a:solidFill>
              <a:srgbClr val="000000">
                <a:alpha val="19608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나눔바른고딕OTF" panose="020B0600000101010101" charset="-127"/>
              <a:ea typeface="나눔바른고딕OTF" panose="020B0600000101010101" charset="-127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1561696" y="4329545"/>
            <a:ext cx="16726304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Bef>
                <a:spcPct val="0"/>
              </a:spcBef>
              <a:defRPr sz="6600" b="1">
                <a:solidFill>
                  <a:srgbClr val="47557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  <a:cs typeface="Cabin Bold"/>
              </a:defRPr>
            </a:lvl1pPr>
          </a:lstStyle>
          <a:p>
            <a:r>
              <a:rPr lang="en-US" altLang="ko-KR" sz="6000" dirty="0">
                <a:latin typeface="나눔바른고딕OTF" panose="020B0600000101010101" charset="-127"/>
                <a:ea typeface="나눔바른고딕OTF" panose="020B0600000101010101" charset="-127"/>
                <a:sym typeface="Cabin Bold"/>
              </a:rPr>
              <a:t>Football Analytics &amp; Community REST API</a:t>
            </a:r>
            <a:endParaRPr lang="en-US" sz="6000" dirty="0">
              <a:latin typeface="나눔바른고딕OTF" panose="020B0600000101010101" charset="-127"/>
              <a:ea typeface="나눔바른고딕OTF" panose="020B0600000101010101" charset="-127"/>
              <a:sym typeface="Cabin Bold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561696" y="7773189"/>
            <a:ext cx="3772304" cy="865161"/>
            <a:chOff x="0" y="-38100"/>
            <a:chExt cx="3389015" cy="1153548"/>
          </a:xfrm>
        </p:grpSpPr>
        <p:sp>
          <p:nvSpPr>
            <p:cNvPr id="6" name="TextBox 6"/>
            <p:cNvSpPr txBox="1"/>
            <p:nvPr/>
          </p:nvSpPr>
          <p:spPr>
            <a:xfrm>
              <a:off x="0" y="-38100"/>
              <a:ext cx="570607" cy="4129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dirty="0">
                  <a:solidFill>
                    <a:srgbClr val="475570"/>
                  </a:solidFill>
                  <a:latin typeface="나눔바른고딕OTF" panose="020B0600000101010101" charset="-127"/>
                  <a:ea typeface="나눔바른고딕OTF" panose="020B0600000101010101" charset="-127"/>
                  <a:cs typeface="Cabin"/>
                  <a:sym typeface="Cabin"/>
                </a:rPr>
                <a:t>Name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538366"/>
              <a:ext cx="3389015" cy="5770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altLang="ko-KR" sz="2499" b="1" dirty="0">
                  <a:solidFill>
                    <a:srgbClr val="475570"/>
                  </a:solidFill>
                  <a:latin typeface="나눔바른고딕OTF" panose="020B0600000101010101" charset="-127"/>
                  <a:ea typeface="나눔바른고딕OTF" panose="020B0600000101010101" charset="-127"/>
                  <a:cs typeface="Canva Sans Medium"/>
                  <a:sym typeface="Canva Sans Medium"/>
                </a:rPr>
                <a:t>Hany Song</a:t>
              </a:r>
              <a:endParaRPr lang="en-US" sz="2499" b="1" dirty="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  <a:cs typeface="Canva Sans Medium"/>
                <a:sym typeface="Canva Sans Medium"/>
              </a:endParaRP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142956" y="7773189"/>
            <a:ext cx="3423535" cy="865161"/>
            <a:chOff x="0" y="-38100"/>
            <a:chExt cx="3075682" cy="1153548"/>
          </a:xfrm>
        </p:grpSpPr>
        <p:sp>
          <p:nvSpPr>
            <p:cNvPr id="9" name="TextBox 9"/>
            <p:cNvSpPr txBox="1"/>
            <p:nvPr/>
          </p:nvSpPr>
          <p:spPr>
            <a:xfrm>
              <a:off x="0" y="-38100"/>
              <a:ext cx="833636" cy="4129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dirty="0">
                  <a:solidFill>
                    <a:srgbClr val="475570"/>
                  </a:solidFill>
                  <a:latin typeface="나눔바른고딕OTF" panose="020B0600000101010101" charset="-127"/>
                  <a:ea typeface="나눔바른고딕OTF" panose="020B0600000101010101" charset="-127"/>
                  <a:cs typeface="Cabin"/>
                  <a:sym typeface="Cabin"/>
                </a:rPr>
                <a:t>ID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538366"/>
              <a:ext cx="3075682" cy="5770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dirty="0">
                  <a:solidFill>
                    <a:srgbClr val="475570"/>
                  </a:solidFill>
                  <a:latin typeface="나눔바른고딕OTF" panose="020B0600000101010101" charset="-127"/>
                  <a:ea typeface="나눔바른고딕OTF" panose="020B0600000101010101" charset="-127"/>
                  <a:cs typeface="Canva Sans Medium"/>
                  <a:sym typeface="Canva Sans Medium"/>
                </a:rPr>
                <a:t>202049082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E613356D-BF2E-8AC0-B270-CE421213EA4E}"/>
              </a:ext>
            </a:extLst>
          </p:cNvPr>
          <p:cNvSpPr txBox="1"/>
          <p:nvPr/>
        </p:nvSpPr>
        <p:spPr>
          <a:xfrm>
            <a:off x="1561696" y="5752566"/>
            <a:ext cx="15354704" cy="67710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Bef>
                <a:spcPct val="0"/>
              </a:spcBef>
              <a:defRPr sz="6600" b="1">
                <a:solidFill>
                  <a:srgbClr val="47557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  <a:cs typeface="Cabin Bold"/>
              </a:defRPr>
            </a:lvl1pPr>
          </a:lstStyle>
          <a:p>
            <a:r>
              <a:rPr lang="en-US" altLang="ko-KR" sz="3200" b="0" dirty="0">
                <a:latin typeface="나눔바른고딕OTF" panose="020B0600000101010101" charset="-127"/>
                <a:ea typeface="나눔바른고딕OTF" panose="020B0600000101010101" charset="-127"/>
                <a:sym typeface="Cabin Bold"/>
              </a:rPr>
              <a:t>COMP3011 – Web Services and Web Data</a:t>
            </a:r>
            <a:endParaRPr lang="en-US" sz="3200" b="0" dirty="0">
              <a:latin typeface="나눔바른고딕OTF" panose="020B0600000101010101" charset="-127"/>
              <a:ea typeface="나눔바른고딕OTF" panose="020B0600000101010101" charset="-127"/>
              <a:sym typeface="Cabin Bold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58EC06-930E-ECD4-DE1D-E92F94E42CF7}"/>
              </a:ext>
            </a:extLst>
          </p:cNvPr>
          <p:cNvSpPr txBox="1"/>
          <p:nvPr/>
        </p:nvSpPr>
        <p:spPr>
          <a:xfrm>
            <a:off x="1561696" y="3966998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  <a:hlinkClick r:id="rId2"/>
              </a:rPr>
              <a:t>https://github.com/20210330-12/COMP3011-Coursework1</a:t>
            </a:r>
            <a:endParaRPr lang="en-US" altLang="ko-KR" dirty="0">
              <a:solidFill>
                <a:srgbClr val="475570"/>
              </a:solidFill>
              <a:latin typeface="나눔바른고딕OTF" panose="020B0600000101010101" charset="-127"/>
              <a:ea typeface="나눔바른고딕OTF" panose="020B0600000101010101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0F3775-D592-9F20-3792-33D52D27B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6">
            <a:extLst>
              <a:ext uri="{FF2B5EF4-FFF2-40B4-BE49-F238E27FC236}">
                <a16:creationId xmlns:a16="http://schemas.microsoft.com/office/drawing/2014/main" id="{93691F91-294E-C820-BB5C-69B3D1CBBF7F}"/>
              </a:ext>
            </a:extLst>
          </p:cNvPr>
          <p:cNvSpPr txBox="1"/>
          <p:nvPr/>
        </p:nvSpPr>
        <p:spPr>
          <a:xfrm>
            <a:off x="1191250" y="1254206"/>
            <a:ext cx="15496550" cy="8656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</a:pPr>
            <a:r>
              <a:rPr lang="en-US" altLang="ko-KR" sz="5000" b="1" dirty="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  <a:cs typeface="Canva Sans Bold"/>
                <a:sym typeface="Canva Sans Bold"/>
              </a:rPr>
              <a:t>Project Motivation</a:t>
            </a:r>
            <a:endParaRPr lang="en-US" sz="5000" b="1" dirty="0">
              <a:solidFill>
                <a:srgbClr val="475570"/>
              </a:solidFill>
              <a:latin typeface="나눔바른고딕OTF" panose="020B0600000101010101" charset="-127"/>
              <a:ea typeface="나눔바른고딕OTF" panose="020B0600000101010101" charset="-127"/>
              <a:cs typeface="Canva Sans Bold"/>
              <a:sym typeface="Canva Sans Bold"/>
            </a:endParaRP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71685742-E27D-46CA-9E99-F4A55A659799}"/>
              </a:ext>
            </a:extLst>
          </p:cNvPr>
          <p:cNvSpPr txBox="1"/>
          <p:nvPr/>
        </p:nvSpPr>
        <p:spPr>
          <a:xfrm>
            <a:off x="1191250" y="830263"/>
            <a:ext cx="6962150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  <a:cs typeface="Cabin"/>
                <a:sym typeface="Cabin"/>
              </a:rPr>
              <a:t>COMP3011 Coursework 1</a:t>
            </a:r>
            <a:endParaRPr lang="en-US" sz="2000" dirty="0">
              <a:solidFill>
                <a:srgbClr val="475570"/>
              </a:solidFill>
              <a:latin typeface="나눔바른고딕OTF" panose="020B0600000101010101" charset="-127"/>
              <a:ea typeface="나눔바른고딕OTF" panose="020B0600000101010101" charset="-127"/>
              <a:cs typeface="Cabin"/>
              <a:sym typeface="Cabin"/>
            </a:endParaRPr>
          </a:p>
        </p:txBody>
      </p:sp>
      <p:sp>
        <p:nvSpPr>
          <p:cNvPr id="15" name="AutoShape 8">
            <a:extLst>
              <a:ext uri="{FF2B5EF4-FFF2-40B4-BE49-F238E27FC236}">
                <a16:creationId xmlns:a16="http://schemas.microsoft.com/office/drawing/2014/main" id="{F2CAC7BB-3D10-6B2B-9A62-1B82AACE6023}"/>
              </a:ext>
            </a:extLst>
          </p:cNvPr>
          <p:cNvSpPr/>
          <p:nvPr/>
        </p:nvSpPr>
        <p:spPr>
          <a:xfrm>
            <a:off x="866882" y="2504321"/>
            <a:ext cx="16554237" cy="0"/>
          </a:xfrm>
          <a:prstGeom prst="line">
            <a:avLst/>
          </a:prstGeom>
          <a:ln w="19050" cap="flat">
            <a:solidFill>
              <a:srgbClr val="000000">
                <a:alpha val="19608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나눔바른고딕OTF" panose="020B0600000101010101" charset="-127"/>
              <a:ea typeface="나눔바른고딕OTF" panose="020B0600000101010101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48490C-3418-A5E4-A5D8-F1489E55FB77}"/>
              </a:ext>
            </a:extLst>
          </p:cNvPr>
          <p:cNvSpPr txBox="1"/>
          <p:nvPr/>
        </p:nvSpPr>
        <p:spPr>
          <a:xfrm>
            <a:off x="2081891" y="3940913"/>
            <a:ext cx="3019319" cy="769441"/>
          </a:xfrm>
          <a:prstGeom prst="rect">
            <a:avLst/>
          </a:prstGeom>
          <a:solidFill>
            <a:srgbClr val="47557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2800">
                <a:solidFill>
                  <a:srgbClr val="FCFDF8"/>
                </a:solidFill>
                <a:latin typeface="나눔바른고딕OTF" panose="020B0600000101010101" charset="-127"/>
                <a:ea typeface="나눔바른고딕OTF" panose="020B0600000101010101" charset="-127"/>
              </a:defRPr>
            </a:lvl1pPr>
          </a:lstStyle>
          <a:p>
            <a:pPr algn="ctr"/>
            <a:r>
              <a:rPr lang="en-US" altLang="ko-KR" sz="4400" b="1" dirty="0"/>
              <a:t>Problem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A0E626B-32B1-C184-0492-AB4B18481B78}"/>
              </a:ext>
            </a:extLst>
          </p:cNvPr>
          <p:cNvSpPr txBox="1"/>
          <p:nvPr/>
        </p:nvSpPr>
        <p:spPr>
          <a:xfrm>
            <a:off x="1191251" y="4987981"/>
            <a:ext cx="4800601" cy="2804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 sz="240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</a:defRPr>
            </a:lvl1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altLang="ko-KR" sz="3000" dirty="0"/>
              <a:t>Football statistics are widely available but often fragmented across multiple platforms.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A52C973-F28B-C276-4E2D-ED9E92EAA86A}"/>
              </a:ext>
            </a:extLst>
          </p:cNvPr>
          <p:cNvSpPr txBox="1"/>
          <p:nvPr/>
        </p:nvSpPr>
        <p:spPr>
          <a:xfrm>
            <a:off x="6539225" y="4987981"/>
            <a:ext cx="4800601" cy="2804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 sz="240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</a:defRPr>
            </a:lvl1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altLang="ko-KR" sz="3000" b="1" dirty="0"/>
              <a:t>Create a unified REST API that provides:</a:t>
            </a:r>
          </a:p>
          <a:p>
            <a:pPr algn="ctr">
              <a:lnSpc>
                <a:spcPct val="150000"/>
              </a:lnSpc>
            </a:pPr>
            <a:r>
              <a:rPr lang="en-US" altLang="ko-KR" sz="3000" dirty="0"/>
              <a:t>football analytics</a:t>
            </a:r>
          </a:p>
          <a:p>
            <a:pPr algn="ctr">
              <a:lnSpc>
                <a:spcPct val="150000"/>
              </a:lnSpc>
            </a:pPr>
            <a:r>
              <a:rPr lang="en-US" altLang="ko-KR" sz="3000" dirty="0"/>
              <a:t>community interaction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E357788-9EB3-3F7E-58F1-B2FC85718339}"/>
              </a:ext>
            </a:extLst>
          </p:cNvPr>
          <p:cNvSpPr txBox="1"/>
          <p:nvPr/>
        </p:nvSpPr>
        <p:spPr>
          <a:xfrm>
            <a:off x="7429865" y="3940913"/>
            <a:ext cx="3019319" cy="769441"/>
          </a:xfrm>
          <a:prstGeom prst="rect">
            <a:avLst/>
          </a:prstGeom>
          <a:solidFill>
            <a:srgbClr val="47557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2800">
                <a:solidFill>
                  <a:srgbClr val="FCFDF8"/>
                </a:solidFill>
                <a:latin typeface="나눔바른고딕OTF" panose="020B0600000101010101" charset="-127"/>
                <a:ea typeface="나눔바른고딕OTF" panose="020B0600000101010101" charset="-127"/>
              </a:defRPr>
            </a:lvl1pPr>
          </a:lstStyle>
          <a:p>
            <a:pPr algn="ctr"/>
            <a:r>
              <a:rPr lang="en-US" altLang="ko-KR" sz="4400" b="1" dirty="0"/>
              <a:t>Goal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E132590-31F6-81C9-3D53-7B4A76CCC908}"/>
              </a:ext>
            </a:extLst>
          </p:cNvPr>
          <p:cNvSpPr txBox="1"/>
          <p:nvPr/>
        </p:nvSpPr>
        <p:spPr>
          <a:xfrm>
            <a:off x="12777839" y="3940913"/>
            <a:ext cx="3019319" cy="769441"/>
          </a:xfrm>
          <a:prstGeom prst="rect">
            <a:avLst/>
          </a:prstGeom>
          <a:solidFill>
            <a:srgbClr val="47557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2800">
                <a:solidFill>
                  <a:srgbClr val="FCFDF8"/>
                </a:solidFill>
                <a:latin typeface="나눔바른고딕OTF" panose="020B0600000101010101" charset="-127"/>
                <a:ea typeface="나눔바른고딕OTF" panose="020B0600000101010101" charset="-127"/>
              </a:defRPr>
            </a:lvl1pPr>
          </a:lstStyle>
          <a:p>
            <a:pPr algn="ctr"/>
            <a:r>
              <a:rPr lang="en-US" altLang="ko-KR" sz="4400" b="1" dirty="0"/>
              <a:t>Key Idea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E1F0C62-0082-4B55-00A1-F1CBEBB3555F}"/>
              </a:ext>
            </a:extLst>
          </p:cNvPr>
          <p:cNvSpPr txBox="1"/>
          <p:nvPr/>
        </p:nvSpPr>
        <p:spPr>
          <a:xfrm>
            <a:off x="11887199" y="4987981"/>
            <a:ext cx="4800601" cy="28046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 sz="240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</a:defRPr>
            </a:lvl1pPr>
          </a:lstStyle>
          <a:p>
            <a:pPr marL="0" indent="0" algn="ctr">
              <a:lnSpc>
                <a:spcPct val="150000"/>
              </a:lnSpc>
              <a:buNone/>
            </a:pPr>
            <a:r>
              <a:rPr lang="en-US" altLang="ko-KR" sz="3000" dirty="0"/>
              <a:t>Combine football analytics and community interaction in a single API platform.</a:t>
            </a:r>
          </a:p>
        </p:txBody>
      </p:sp>
    </p:spTree>
    <p:extLst>
      <p:ext uri="{BB962C8B-B14F-4D97-AF65-F5344CB8AC3E}">
        <p14:creationId xmlns:p14="http://schemas.microsoft.com/office/powerpoint/2010/main" val="14560560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F77275-7282-75F8-2202-98D3269002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6">
            <a:extLst>
              <a:ext uri="{FF2B5EF4-FFF2-40B4-BE49-F238E27FC236}">
                <a16:creationId xmlns:a16="http://schemas.microsoft.com/office/drawing/2014/main" id="{A232875A-182C-8129-ADB3-42C91C841414}"/>
              </a:ext>
            </a:extLst>
          </p:cNvPr>
          <p:cNvSpPr txBox="1"/>
          <p:nvPr/>
        </p:nvSpPr>
        <p:spPr>
          <a:xfrm>
            <a:off x="1191250" y="1254206"/>
            <a:ext cx="9781550" cy="17633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  <a:cs typeface="Canva Sans Bold"/>
                <a:sym typeface="Canva Sans Bold"/>
              </a:rPr>
              <a:t>System Architecture</a:t>
            </a:r>
            <a:br>
              <a:rPr lang="en-US" sz="5000" b="1" dirty="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  <a:cs typeface="Canva Sans Bold"/>
                <a:sym typeface="Canva Sans Bold"/>
              </a:rPr>
            </a:br>
            <a:r>
              <a:rPr lang="en-US" sz="5000" b="1" dirty="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  <a:cs typeface="Canva Sans Bold"/>
                <a:sym typeface="Canva Sans Bold"/>
              </a:rPr>
              <a:t>&amp; Database Design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D5D5E066-1C16-611F-EA65-F722FE746EB9}"/>
              </a:ext>
            </a:extLst>
          </p:cNvPr>
          <p:cNvSpPr txBox="1"/>
          <p:nvPr/>
        </p:nvSpPr>
        <p:spPr>
          <a:xfrm>
            <a:off x="1191250" y="830263"/>
            <a:ext cx="6962150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  <a:cs typeface="Cabin"/>
                <a:sym typeface="Cabin"/>
              </a:rPr>
              <a:t>COMP3011 Coursework 1</a:t>
            </a:r>
            <a:endParaRPr lang="en-US" sz="2000" dirty="0">
              <a:solidFill>
                <a:srgbClr val="475570"/>
              </a:solidFill>
              <a:latin typeface="나눔바른고딕OTF" panose="020B0600000101010101" charset="-127"/>
              <a:ea typeface="나눔바른고딕OTF" panose="020B0600000101010101" charset="-127"/>
              <a:cs typeface="Cabin"/>
              <a:sym typeface="Cabin"/>
            </a:endParaRPr>
          </a:p>
        </p:txBody>
      </p:sp>
      <p:sp>
        <p:nvSpPr>
          <p:cNvPr id="15" name="AutoShape 8">
            <a:extLst>
              <a:ext uri="{FF2B5EF4-FFF2-40B4-BE49-F238E27FC236}">
                <a16:creationId xmlns:a16="http://schemas.microsoft.com/office/drawing/2014/main" id="{6982532D-D08E-F5C4-649C-39E52D977189}"/>
              </a:ext>
            </a:extLst>
          </p:cNvPr>
          <p:cNvSpPr/>
          <p:nvPr/>
        </p:nvSpPr>
        <p:spPr>
          <a:xfrm>
            <a:off x="866883" y="3390900"/>
            <a:ext cx="6905518" cy="0"/>
          </a:xfrm>
          <a:prstGeom prst="line">
            <a:avLst/>
          </a:prstGeom>
          <a:ln w="19050" cap="flat">
            <a:solidFill>
              <a:srgbClr val="000000">
                <a:alpha val="19608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나눔바른고딕OTF" panose="020B0600000101010101" charset="-127"/>
              <a:ea typeface="나눔바른고딕OTF" panose="020B0600000101010101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5975809-869F-46D4-BE35-1DB862C6CB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1250" y="3657605"/>
            <a:ext cx="3454919" cy="647699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B2607519-94C8-55E3-B4C4-2299A0CE48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63421" y="0"/>
            <a:ext cx="9624579" cy="102870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9FB7B2E-EC07-A982-1049-1A093EDA10D6}"/>
              </a:ext>
            </a:extLst>
          </p:cNvPr>
          <p:cNvSpPr txBox="1"/>
          <p:nvPr/>
        </p:nvSpPr>
        <p:spPr>
          <a:xfrm>
            <a:off x="4834031" y="7201930"/>
            <a:ext cx="2819401" cy="1977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 sz="240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</a:defRPr>
            </a:lvl1pPr>
          </a:lstStyle>
          <a:p>
            <a:pPr>
              <a:lnSpc>
                <a:spcPct val="150000"/>
              </a:lnSpc>
              <a:buFont typeface="나눔바른고딕OTF" panose="020B0600000101010101" charset="-127"/>
              <a:buChar char="←"/>
            </a:pPr>
            <a:r>
              <a:rPr lang="en-US" altLang="ko-KR" sz="2800" b="1" dirty="0"/>
              <a:t>  Production</a:t>
            </a:r>
            <a:br>
              <a:rPr lang="en-US" altLang="ko-KR" sz="2800" b="1" dirty="0"/>
            </a:br>
            <a:r>
              <a:rPr lang="en-US" altLang="ko-KR" sz="2800" b="1" dirty="0"/>
              <a:t>  Deployment</a:t>
            </a:r>
            <a:br>
              <a:rPr lang="en-US" altLang="ko-KR" sz="2800" b="1" dirty="0"/>
            </a:br>
            <a:r>
              <a:rPr lang="en-US" altLang="ko-KR" sz="2800" b="1" dirty="0"/>
              <a:t>  Diagram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2B32FD8-DBAD-1D72-FFAA-43B8BE4AAB75}"/>
              </a:ext>
            </a:extLst>
          </p:cNvPr>
          <p:cNvSpPr txBox="1"/>
          <p:nvPr/>
        </p:nvSpPr>
        <p:spPr>
          <a:xfrm>
            <a:off x="5589009" y="9134240"/>
            <a:ext cx="2819401" cy="6848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 sz="240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</a:defRPr>
            </a:lvl1pPr>
          </a:lstStyle>
          <a:p>
            <a:pPr marL="0" indent="0" algn="r">
              <a:lnSpc>
                <a:spcPct val="150000"/>
              </a:lnSpc>
              <a:buNone/>
            </a:pPr>
            <a:r>
              <a:rPr lang="en-US" altLang="ko-KR" sz="2800" b="1" dirty="0"/>
              <a:t>ERD  →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D6C6B36-20F5-D8E9-FC09-E0D885923485}"/>
              </a:ext>
            </a:extLst>
          </p:cNvPr>
          <p:cNvSpPr txBox="1"/>
          <p:nvPr/>
        </p:nvSpPr>
        <p:spPr>
          <a:xfrm>
            <a:off x="4834031" y="3848100"/>
            <a:ext cx="2362200" cy="523220"/>
          </a:xfrm>
          <a:prstGeom prst="rect">
            <a:avLst/>
          </a:prstGeom>
          <a:solidFill>
            <a:srgbClr val="47557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algn="ctr">
              <a:defRPr sz="2800">
                <a:solidFill>
                  <a:srgbClr val="FCFDF8"/>
                </a:solidFill>
                <a:latin typeface="나눔바른고딕OTF" panose="020B0600000101010101" charset="-127"/>
                <a:ea typeface="나눔바른고딕OTF" panose="020B0600000101010101" charset="-127"/>
              </a:defRPr>
            </a:lvl1pPr>
          </a:lstStyle>
          <a:p>
            <a:r>
              <a:rPr lang="en-US" altLang="ko-KR" dirty="0"/>
              <a:t>AWS EC2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EADE0A-42B5-8612-5BDB-E2D7CCBAFEE0}"/>
              </a:ext>
            </a:extLst>
          </p:cNvPr>
          <p:cNvSpPr txBox="1"/>
          <p:nvPr/>
        </p:nvSpPr>
        <p:spPr>
          <a:xfrm>
            <a:off x="4834031" y="4399707"/>
            <a:ext cx="3710421" cy="27738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 sz="240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b="1" dirty="0"/>
              <a:t>Deployment challenge: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200" dirty="0"/>
              <a:t>EC2 t3.nano memory limitation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b="1" dirty="0"/>
              <a:t>Solution: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2200" dirty="0"/>
              <a:t>Reduced </a:t>
            </a:r>
            <a:r>
              <a:rPr lang="en-US" altLang="ko-KR" sz="2200" dirty="0" err="1"/>
              <a:t>Gunicorn</a:t>
            </a:r>
            <a:r>
              <a:rPr lang="en-US" altLang="ko-KR" sz="2200" dirty="0"/>
              <a:t> workers</a:t>
            </a:r>
          </a:p>
        </p:txBody>
      </p:sp>
    </p:spTree>
    <p:extLst>
      <p:ext uri="{BB962C8B-B14F-4D97-AF65-F5344CB8AC3E}">
        <p14:creationId xmlns:p14="http://schemas.microsoft.com/office/powerpoint/2010/main" val="10956589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87F54F-5E28-0350-6D0A-0AE290487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6">
            <a:extLst>
              <a:ext uri="{FF2B5EF4-FFF2-40B4-BE49-F238E27FC236}">
                <a16:creationId xmlns:a16="http://schemas.microsoft.com/office/drawing/2014/main" id="{F6494236-B8BE-993C-664C-08BFA76A72E6}"/>
              </a:ext>
            </a:extLst>
          </p:cNvPr>
          <p:cNvSpPr txBox="1"/>
          <p:nvPr/>
        </p:nvSpPr>
        <p:spPr>
          <a:xfrm>
            <a:off x="1191250" y="1254206"/>
            <a:ext cx="15496550" cy="8656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  <a:cs typeface="Canva Sans Bold"/>
                <a:sym typeface="Canva Sans Bold"/>
              </a:rPr>
              <a:t>API Features &amp; Analytics Example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E16C806F-9634-0E4A-E22F-8C53D9553BEE}"/>
              </a:ext>
            </a:extLst>
          </p:cNvPr>
          <p:cNvSpPr txBox="1"/>
          <p:nvPr/>
        </p:nvSpPr>
        <p:spPr>
          <a:xfrm>
            <a:off x="1191250" y="830263"/>
            <a:ext cx="6962150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  <a:cs typeface="Cabin"/>
                <a:sym typeface="Cabin"/>
              </a:rPr>
              <a:t>COMP3011 Coursework 1</a:t>
            </a:r>
            <a:endParaRPr lang="en-US" sz="2000" dirty="0">
              <a:solidFill>
                <a:srgbClr val="475570"/>
              </a:solidFill>
              <a:latin typeface="나눔바른고딕OTF" panose="020B0600000101010101" charset="-127"/>
              <a:ea typeface="나눔바른고딕OTF" panose="020B0600000101010101" charset="-127"/>
              <a:cs typeface="Cabin"/>
              <a:sym typeface="Cabin"/>
            </a:endParaRPr>
          </a:p>
        </p:txBody>
      </p:sp>
      <p:sp>
        <p:nvSpPr>
          <p:cNvPr id="15" name="AutoShape 8">
            <a:extLst>
              <a:ext uri="{FF2B5EF4-FFF2-40B4-BE49-F238E27FC236}">
                <a16:creationId xmlns:a16="http://schemas.microsoft.com/office/drawing/2014/main" id="{8870091D-3753-2E9F-EE8D-CB10A08F024A}"/>
              </a:ext>
            </a:extLst>
          </p:cNvPr>
          <p:cNvSpPr/>
          <p:nvPr/>
        </p:nvSpPr>
        <p:spPr>
          <a:xfrm>
            <a:off x="866882" y="2504321"/>
            <a:ext cx="16554237" cy="0"/>
          </a:xfrm>
          <a:prstGeom prst="line">
            <a:avLst/>
          </a:prstGeom>
          <a:ln w="19050" cap="flat">
            <a:solidFill>
              <a:srgbClr val="000000">
                <a:alpha val="19608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나눔바른고딕OTF" panose="020B0600000101010101" charset="-127"/>
              <a:ea typeface="나눔바른고딕OTF" panose="020B0600000101010101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4876503-6030-F3B4-8E96-DBACE5698AFC}"/>
              </a:ext>
            </a:extLst>
          </p:cNvPr>
          <p:cNvSpPr txBox="1"/>
          <p:nvPr/>
        </p:nvSpPr>
        <p:spPr>
          <a:xfrm>
            <a:off x="9677400" y="4285568"/>
            <a:ext cx="7724151" cy="4189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 sz="240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sz="3000" b="1" dirty="0"/>
              <a:t>ex. League standings calculation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3000" dirty="0"/>
              <a:t>Matches → appearances→ aggregated statistics</a:t>
            </a:r>
          </a:p>
          <a:p>
            <a:pPr>
              <a:lnSpc>
                <a:spcPct val="150000"/>
              </a:lnSpc>
            </a:pPr>
            <a:r>
              <a:rPr lang="en-US" altLang="ko-KR" sz="2800" dirty="0"/>
              <a:t>Win = 3 points</a:t>
            </a:r>
          </a:p>
          <a:p>
            <a:pPr>
              <a:lnSpc>
                <a:spcPct val="150000"/>
              </a:lnSpc>
            </a:pPr>
            <a:r>
              <a:rPr lang="en-US" altLang="ko-KR" sz="2800" dirty="0"/>
              <a:t>Draw = 1 point</a:t>
            </a:r>
          </a:p>
          <a:p>
            <a:pPr>
              <a:lnSpc>
                <a:spcPct val="150000"/>
              </a:lnSpc>
            </a:pPr>
            <a:r>
              <a:rPr lang="en-US" altLang="ko-KR" sz="2800" dirty="0"/>
              <a:t>Loss = 0 points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F193B4C-38A4-3C03-E6B3-DE290B8F1C54}"/>
              </a:ext>
            </a:extLst>
          </p:cNvPr>
          <p:cNvSpPr txBox="1"/>
          <p:nvPr/>
        </p:nvSpPr>
        <p:spPr>
          <a:xfrm>
            <a:off x="1191250" y="3238500"/>
            <a:ext cx="6123950" cy="769441"/>
          </a:xfrm>
          <a:prstGeom prst="rect">
            <a:avLst/>
          </a:prstGeom>
          <a:solidFill>
            <a:srgbClr val="47557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2800">
                <a:solidFill>
                  <a:srgbClr val="FCFDF8"/>
                </a:solidFill>
                <a:latin typeface="나눔바른고딕OTF" panose="020B0600000101010101" charset="-127"/>
                <a:ea typeface="나눔바른고딕OTF" panose="020B0600000101010101" charset="-127"/>
              </a:defRPr>
            </a:lvl1pPr>
          </a:lstStyle>
          <a:p>
            <a:pPr algn="ctr"/>
            <a:r>
              <a:rPr lang="en-US" altLang="ko-KR" sz="4400" b="1" dirty="0"/>
              <a:t>Main API Features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807624-94AE-BD78-DB2B-E2301F80D691}"/>
              </a:ext>
            </a:extLst>
          </p:cNvPr>
          <p:cNvSpPr txBox="1"/>
          <p:nvPr/>
        </p:nvSpPr>
        <p:spPr>
          <a:xfrm>
            <a:off x="1191250" y="4285568"/>
            <a:ext cx="7343150" cy="4189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 sz="240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3000" dirty="0"/>
              <a:t>Football data endpoints</a:t>
            </a:r>
          </a:p>
          <a:p>
            <a:pPr>
              <a:lnSpc>
                <a:spcPct val="150000"/>
              </a:lnSpc>
            </a:pPr>
            <a:r>
              <a:rPr lang="en-US" altLang="ko-KR" sz="3000" dirty="0"/>
              <a:t>Player statistics</a:t>
            </a:r>
          </a:p>
          <a:p>
            <a:pPr>
              <a:lnSpc>
                <a:spcPct val="150000"/>
              </a:lnSpc>
            </a:pPr>
            <a:r>
              <a:rPr lang="en-US" altLang="ko-KR" sz="3000" dirty="0"/>
              <a:t>Match information</a:t>
            </a:r>
          </a:p>
          <a:p>
            <a:pPr>
              <a:lnSpc>
                <a:spcPct val="150000"/>
              </a:lnSpc>
            </a:pPr>
            <a:r>
              <a:rPr lang="en-US" altLang="ko-KR" sz="3000" dirty="0"/>
              <a:t>Analytics endpoints</a:t>
            </a:r>
          </a:p>
          <a:p>
            <a:pPr>
              <a:lnSpc>
                <a:spcPct val="150000"/>
              </a:lnSpc>
            </a:pPr>
            <a:r>
              <a:rPr lang="en-US" altLang="ko-KR" sz="3000" dirty="0"/>
              <a:t>Community posts and comments</a:t>
            </a:r>
          </a:p>
          <a:p>
            <a:pPr>
              <a:lnSpc>
                <a:spcPct val="150000"/>
              </a:lnSpc>
            </a:pPr>
            <a:r>
              <a:rPr lang="en-US" altLang="ko-KR" sz="3000" dirty="0"/>
              <a:t>Token authentication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CAB71C9-28F7-D016-FE69-27A616D7ACFA}"/>
              </a:ext>
            </a:extLst>
          </p:cNvPr>
          <p:cNvSpPr txBox="1"/>
          <p:nvPr/>
        </p:nvSpPr>
        <p:spPr>
          <a:xfrm>
            <a:off x="9677400" y="3238500"/>
            <a:ext cx="6123950" cy="769441"/>
          </a:xfrm>
          <a:prstGeom prst="rect">
            <a:avLst/>
          </a:prstGeom>
          <a:solidFill>
            <a:srgbClr val="47557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2800">
                <a:solidFill>
                  <a:srgbClr val="FCFDF8"/>
                </a:solidFill>
                <a:latin typeface="나눔바른고딕OTF" panose="020B0600000101010101" charset="-127"/>
                <a:ea typeface="나눔바른고딕OTF" panose="020B0600000101010101" charset="-127"/>
              </a:defRPr>
            </a:lvl1pPr>
          </a:lstStyle>
          <a:p>
            <a:pPr algn="ctr"/>
            <a:r>
              <a:rPr lang="en-US" altLang="ko-KR" sz="4400" b="1" dirty="0"/>
              <a:t>Analytics</a:t>
            </a:r>
          </a:p>
        </p:txBody>
      </p:sp>
    </p:spTree>
    <p:extLst>
      <p:ext uri="{BB962C8B-B14F-4D97-AF65-F5344CB8AC3E}">
        <p14:creationId xmlns:p14="http://schemas.microsoft.com/office/powerpoint/2010/main" val="4323582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6021F9-68F5-368C-D6DE-5FF41B7C5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6">
            <a:extLst>
              <a:ext uri="{FF2B5EF4-FFF2-40B4-BE49-F238E27FC236}">
                <a16:creationId xmlns:a16="http://schemas.microsoft.com/office/drawing/2014/main" id="{E6CECE52-A8B8-CC55-D242-B581D03F4970}"/>
              </a:ext>
            </a:extLst>
          </p:cNvPr>
          <p:cNvSpPr txBox="1"/>
          <p:nvPr/>
        </p:nvSpPr>
        <p:spPr>
          <a:xfrm>
            <a:off x="1191250" y="1254206"/>
            <a:ext cx="15496550" cy="8656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7000"/>
              </a:lnSpc>
              <a:spcBef>
                <a:spcPct val="0"/>
              </a:spcBef>
            </a:pPr>
            <a:r>
              <a:rPr lang="en-US" sz="5000" b="1" dirty="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  <a:cs typeface="Canva Sans Bold"/>
                <a:sym typeface="Canva Sans Bold"/>
              </a:rPr>
              <a:t>Conclusion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ADCDE6BB-6261-B083-A2D0-4BDFE5174F68}"/>
              </a:ext>
            </a:extLst>
          </p:cNvPr>
          <p:cNvSpPr txBox="1"/>
          <p:nvPr/>
        </p:nvSpPr>
        <p:spPr>
          <a:xfrm>
            <a:off x="1191250" y="830263"/>
            <a:ext cx="6962150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  <a:cs typeface="Cabin"/>
                <a:sym typeface="Cabin"/>
              </a:rPr>
              <a:t>COMP3011 Coursework 1</a:t>
            </a:r>
            <a:endParaRPr lang="en-US" sz="2000" dirty="0">
              <a:solidFill>
                <a:srgbClr val="475570"/>
              </a:solidFill>
              <a:latin typeface="나눔바른고딕OTF" panose="020B0600000101010101" charset="-127"/>
              <a:ea typeface="나눔바른고딕OTF" panose="020B0600000101010101" charset="-127"/>
              <a:cs typeface="Cabin"/>
              <a:sym typeface="Cabin"/>
            </a:endParaRPr>
          </a:p>
        </p:txBody>
      </p:sp>
      <p:sp>
        <p:nvSpPr>
          <p:cNvPr id="15" name="AutoShape 8">
            <a:extLst>
              <a:ext uri="{FF2B5EF4-FFF2-40B4-BE49-F238E27FC236}">
                <a16:creationId xmlns:a16="http://schemas.microsoft.com/office/drawing/2014/main" id="{B8456866-3A55-5949-759A-493A0E9CB75A}"/>
              </a:ext>
            </a:extLst>
          </p:cNvPr>
          <p:cNvSpPr/>
          <p:nvPr/>
        </p:nvSpPr>
        <p:spPr>
          <a:xfrm>
            <a:off x="866882" y="2504321"/>
            <a:ext cx="16554237" cy="0"/>
          </a:xfrm>
          <a:prstGeom prst="line">
            <a:avLst/>
          </a:prstGeom>
          <a:ln w="19050" cap="flat">
            <a:solidFill>
              <a:srgbClr val="000000">
                <a:alpha val="19608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나눔바른고딕OTF" panose="020B0600000101010101" charset="-127"/>
              <a:ea typeface="나눔바른고딕OTF" panose="020B0600000101010101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4D36DA3-2943-3DAD-F500-AA4E4F05319D}"/>
              </a:ext>
            </a:extLst>
          </p:cNvPr>
          <p:cNvSpPr txBox="1"/>
          <p:nvPr/>
        </p:nvSpPr>
        <p:spPr>
          <a:xfrm>
            <a:off x="9677400" y="4285568"/>
            <a:ext cx="7724151" cy="2943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 sz="240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3200" dirty="0"/>
              <a:t>Advanced analytics</a:t>
            </a:r>
          </a:p>
          <a:p>
            <a:pPr>
              <a:lnSpc>
                <a:spcPct val="150000"/>
              </a:lnSpc>
            </a:pPr>
            <a:r>
              <a:rPr lang="en-US" altLang="ko-KR" sz="3200" dirty="0"/>
              <a:t>Frontend interface</a:t>
            </a:r>
          </a:p>
          <a:p>
            <a:pPr>
              <a:lnSpc>
                <a:spcPct val="150000"/>
              </a:lnSpc>
            </a:pPr>
            <a:r>
              <a:rPr lang="en-US" altLang="ko-KR" sz="3200" dirty="0"/>
              <a:t>Live sports data</a:t>
            </a:r>
          </a:p>
          <a:p>
            <a:pPr>
              <a:lnSpc>
                <a:spcPct val="150000"/>
              </a:lnSpc>
            </a:pPr>
            <a:r>
              <a:rPr lang="en-US" altLang="ko-KR" sz="3000" dirty="0"/>
              <a:t>Performance optimization (caching)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24B2A8-D047-E522-471B-BD102E524832}"/>
              </a:ext>
            </a:extLst>
          </p:cNvPr>
          <p:cNvSpPr txBox="1"/>
          <p:nvPr/>
        </p:nvSpPr>
        <p:spPr>
          <a:xfrm>
            <a:off x="1191250" y="3238500"/>
            <a:ext cx="6123950" cy="769441"/>
          </a:xfrm>
          <a:prstGeom prst="rect">
            <a:avLst/>
          </a:prstGeom>
          <a:solidFill>
            <a:srgbClr val="47557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2800">
                <a:solidFill>
                  <a:srgbClr val="FCFDF8"/>
                </a:solidFill>
                <a:latin typeface="나눔바른고딕OTF" panose="020B0600000101010101" charset="-127"/>
                <a:ea typeface="나눔바른고딕OTF" panose="020B0600000101010101" charset="-127"/>
              </a:defRPr>
            </a:lvl1pPr>
          </a:lstStyle>
          <a:p>
            <a:pPr algn="ctr"/>
            <a:r>
              <a:rPr lang="en-US" altLang="ko-KR" sz="4400" b="1" dirty="0"/>
              <a:t>Key Outcomes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6E50AC0-4AE6-0903-5EB0-003A10CACD8D}"/>
              </a:ext>
            </a:extLst>
          </p:cNvPr>
          <p:cNvSpPr txBox="1"/>
          <p:nvPr/>
        </p:nvSpPr>
        <p:spPr>
          <a:xfrm>
            <a:off x="1191250" y="4285568"/>
            <a:ext cx="7343150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 sz="240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3200" dirty="0"/>
              <a:t>RESTful football analytics API</a:t>
            </a:r>
          </a:p>
          <a:p>
            <a:pPr>
              <a:lnSpc>
                <a:spcPct val="150000"/>
              </a:lnSpc>
            </a:pPr>
            <a:r>
              <a:rPr lang="en-US" altLang="ko-KR" sz="3200" dirty="0"/>
              <a:t>Community discussion system</a:t>
            </a:r>
          </a:p>
          <a:p>
            <a:pPr>
              <a:lnSpc>
                <a:spcPct val="150000"/>
              </a:lnSpc>
            </a:pPr>
            <a:r>
              <a:rPr lang="en-US" altLang="ko-KR" sz="3200" dirty="0"/>
              <a:t>Real dataset integration</a:t>
            </a:r>
          </a:p>
          <a:p>
            <a:pPr>
              <a:lnSpc>
                <a:spcPct val="150000"/>
              </a:lnSpc>
            </a:pPr>
            <a:r>
              <a:rPr lang="en-US" altLang="ko-KR" sz="3200" dirty="0"/>
              <a:t>External deployment</a:t>
            </a:r>
            <a:endParaRPr lang="en-US" altLang="ko-KR" sz="3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014D66-8D03-F52D-C05A-730B1345C504}"/>
              </a:ext>
            </a:extLst>
          </p:cNvPr>
          <p:cNvSpPr txBox="1"/>
          <p:nvPr/>
        </p:nvSpPr>
        <p:spPr>
          <a:xfrm>
            <a:off x="9677400" y="3238500"/>
            <a:ext cx="6123950" cy="769441"/>
          </a:xfrm>
          <a:prstGeom prst="rect">
            <a:avLst/>
          </a:prstGeom>
          <a:solidFill>
            <a:srgbClr val="475570"/>
          </a:solidFill>
        </p:spPr>
        <p:txBody>
          <a:bodyPr wrap="square" rtlCol="0">
            <a:spAutoFit/>
          </a:bodyPr>
          <a:lstStyle>
            <a:defPPr>
              <a:defRPr lang="en-US"/>
            </a:defPPr>
            <a:lvl1pPr indent="0">
              <a:buFont typeface="Arial" panose="020B0604020202020204" pitchFamily="34" charset="0"/>
              <a:buNone/>
              <a:defRPr sz="2800">
                <a:solidFill>
                  <a:srgbClr val="FCFDF8"/>
                </a:solidFill>
                <a:latin typeface="나눔바른고딕OTF" panose="020B0600000101010101" charset="-127"/>
                <a:ea typeface="나눔바른고딕OTF" panose="020B0600000101010101" charset="-127"/>
              </a:defRPr>
            </a:lvl1pPr>
          </a:lstStyle>
          <a:p>
            <a:pPr algn="ctr"/>
            <a:r>
              <a:rPr lang="en-US" altLang="ko-KR" sz="4400" b="1" dirty="0"/>
              <a:t>Future Work</a:t>
            </a:r>
          </a:p>
        </p:txBody>
      </p:sp>
    </p:spTree>
    <p:extLst>
      <p:ext uri="{BB962C8B-B14F-4D97-AF65-F5344CB8AC3E}">
        <p14:creationId xmlns:p14="http://schemas.microsoft.com/office/powerpoint/2010/main" val="33199918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5018FB7-0003-B71E-DA1C-017B8665E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3">
            <a:extLst>
              <a:ext uri="{FF2B5EF4-FFF2-40B4-BE49-F238E27FC236}">
                <a16:creationId xmlns:a16="http://schemas.microsoft.com/office/drawing/2014/main" id="{045CF99B-5C19-7213-5362-D7BD1EEF0D20}"/>
              </a:ext>
            </a:extLst>
          </p:cNvPr>
          <p:cNvSpPr/>
          <p:nvPr/>
        </p:nvSpPr>
        <p:spPr>
          <a:xfrm>
            <a:off x="1028700" y="6829553"/>
            <a:ext cx="16230600" cy="0"/>
          </a:xfrm>
          <a:prstGeom prst="line">
            <a:avLst/>
          </a:prstGeom>
          <a:ln w="19050" cap="flat">
            <a:solidFill>
              <a:srgbClr val="000000">
                <a:alpha val="19608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6E1FB3-E6D3-3AB4-AAF3-574A2C6AAA57}"/>
              </a:ext>
            </a:extLst>
          </p:cNvPr>
          <p:cNvSpPr txBox="1"/>
          <p:nvPr/>
        </p:nvSpPr>
        <p:spPr>
          <a:xfrm>
            <a:off x="1561696" y="6013720"/>
            <a:ext cx="9144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  <a:hlinkClick r:id="rId2"/>
              </a:rPr>
              <a:t>https://github.com/20210330-12/COMP3011-Coursework1</a:t>
            </a:r>
            <a:endParaRPr lang="en-US" altLang="ko-KR" dirty="0">
              <a:solidFill>
                <a:srgbClr val="475570"/>
              </a:solidFill>
              <a:latin typeface="나눔바른고딕OTF" panose="020B0600000101010101" charset="-127"/>
              <a:ea typeface="나눔바른고딕OTF" panose="020B0600000101010101" charset="-127"/>
            </a:endParaRPr>
          </a:p>
        </p:txBody>
      </p:sp>
      <p:grpSp>
        <p:nvGrpSpPr>
          <p:cNvPr id="3" name="Group 5">
            <a:extLst>
              <a:ext uri="{FF2B5EF4-FFF2-40B4-BE49-F238E27FC236}">
                <a16:creationId xmlns:a16="http://schemas.microsoft.com/office/drawing/2014/main" id="{73B769AF-E3FC-2E28-220F-B0906DDBFD5B}"/>
              </a:ext>
            </a:extLst>
          </p:cNvPr>
          <p:cNvGrpSpPr/>
          <p:nvPr/>
        </p:nvGrpSpPr>
        <p:grpSpPr>
          <a:xfrm>
            <a:off x="1561696" y="7773189"/>
            <a:ext cx="3772304" cy="865161"/>
            <a:chOff x="0" y="-38100"/>
            <a:chExt cx="3389015" cy="1153548"/>
          </a:xfrm>
        </p:grpSpPr>
        <p:sp>
          <p:nvSpPr>
            <p:cNvPr id="4" name="TextBox 6">
              <a:extLst>
                <a:ext uri="{FF2B5EF4-FFF2-40B4-BE49-F238E27FC236}">
                  <a16:creationId xmlns:a16="http://schemas.microsoft.com/office/drawing/2014/main" id="{E4C2DCC5-9062-8F0E-C6BF-AAC7BA28E2BA}"/>
                </a:ext>
              </a:extLst>
            </p:cNvPr>
            <p:cNvSpPr txBox="1"/>
            <p:nvPr/>
          </p:nvSpPr>
          <p:spPr>
            <a:xfrm>
              <a:off x="0" y="-38100"/>
              <a:ext cx="570607" cy="4129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dirty="0">
                  <a:solidFill>
                    <a:srgbClr val="475570"/>
                  </a:solidFill>
                  <a:latin typeface="나눔바른고딕OTF" panose="020B0600000101010101" charset="-127"/>
                  <a:ea typeface="나눔바른고딕OTF" panose="020B0600000101010101" charset="-127"/>
                  <a:cs typeface="Cabin"/>
                  <a:sym typeface="Cabin"/>
                </a:rPr>
                <a:t>Name</a:t>
              </a:r>
            </a:p>
          </p:txBody>
        </p:sp>
        <p:sp>
          <p:nvSpPr>
            <p:cNvPr id="5" name="TextBox 7">
              <a:extLst>
                <a:ext uri="{FF2B5EF4-FFF2-40B4-BE49-F238E27FC236}">
                  <a16:creationId xmlns:a16="http://schemas.microsoft.com/office/drawing/2014/main" id="{C9A4B973-B20A-DA0E-3AD6-FFE5F4FB5F2D}"/>
                </a:ext>
              </a:extLst>
            </p:cNvPr>
            <p:cNvSpPr txBox="1"/>
            <p:nvPr/>
          </p:nvSpPr>
          <p:spPr>
            <a:xfrm>
              <a:off x="0" y="538366"/>
              <a:ext cx="3389015" cy="5770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altLang="ko-KR" sz="2499" b="1" dirty="0">
                  <a:solidFill>
                    <a:srgbClr val="475570"/>
                  </a:solidFill>
                  <a:latin typeface="나눔바른고딕OTF" panose="020B0600000101010101" charset="-127"/>
                  <a:ea typeface="나눔바른고딕OTF" panose="020B0600000101010101" charset="-127"/>
                  <a:cs typeface="Canva Sans Medium"/>
                  <a:sym typeface="Canva Sans Medium"/>
                </a:rPr>
                <a:t>Hany Song</a:t>
              </a:r>
              <a:endParaRPr lang="en-US" sz="2499" b="1" dirty="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  <a:cs typeface="Canva Sans Medium"/>
                <a:sym typeface="Canva Sans Medium"/>
              </a:endParaRPr>
            </a:p>
          </p:txBody>
        </p:sp>
      </p:grpSp>
      <p:grpSp>
        <p:nvGrpSpPr>
          <p:cNvPr id="6" name="Group 8">
            <a:extLst>
              <a:ext uri="{FF2B5EF4-FFF2-40B4-BE49-F238E27FC236}">
                <a16:creationId xmlns:a16="http://schemas.microsoft.com/office/drawing/2014/main" id="{80589CE1-A6F0-D858-6207-67CD6166EFD4}"/>
              </a:ext>
            </a:extLst>
          </p:cNvPr>
          <p:cNvGrpSpPr/>
          <p:nvPr/>
        </p:nvGrpSpPr>
        <p:grpSpPr>
          <a:xfrm>
            <a:off x="9142956" y="7773189"/>
            <a:ext cx="3423535" cy="865161"/>
            <a:chOff x="0" y="-38100"/>
            <a:chExt cx="3075682" cy="1153548"/>
          </a:xfrm>
        </p:grpSpPr>
        <p:sp>
          <p:nvSpPr>
            <p:cNvPr id="7" name="TextBox 9">
              <a:extLst>
                <a:ext uri="{FF2B5EF4-FFF2-40B4-BE49-F238E27FC236}">
                  <a16:creationId xmlns:a16="http://schemas.microsoft.com/office/drawing/2014/main" id="{542F1447-1B3F-0605-BF8B-9024565864AE}"/>
                </a:ext>
              </a:extLst>
            </p:cNvPr>
            <p:cNvSpPr txBox="1"/>
            <p:nvPr/>
          </p:nvSpPr>
          <p:spPr>
            <a:xfrm>
              <a:off x="0" y="-38100"/>
              <a:ext cx="833636" cy="41293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520"/>
                </a:lnSpc>
                <a:spcBef>
                  <a:spcPct val="0"/>
                </a:spcBef>
              </a:pPr>
              <a:r>
                <a:rPr lang="en-US" sz="1800" dirty="0">
                  <a:solidFill>
                    <a:srgbClr val="475570"/>
                  </a:solidFill>
                  <a:latin typeface="나눔바른고딕OTF" panose="020B0600000101010101" charset="-127"/>
                  <a:ea typeface="나눔바른고딕OTF" panose="020B0600000101010101" charset="-127"/>
                  <a:cs typeface="Cabin"/>
                  <a:sym typeface="Cabin"/>
                </a:rPr>
                <a:t>ID</a:t>
              </a:r>
            </a:p>
          </p:txBody>
        </p:sp>
        <p:sp>
          <p:nvSpPr>
            <p:cNvPr id="8" name="TextBox 10">
              <a:extLst>
                <a:ext uri="{FF2B5EF4-FFF2-40B4-BE49-F238E27FC236}">
                  <a16:creationId xmlns:a16="http://schemas.microsoft.com/office/drawing/2014/main" id="{D14243AB-F97D-2D04-87B3-B8312BA1C0E5}"/>
                </a:ext>
              </a:extLst>
            </p:cNvPr>
            <p:cNvSpPr txBox="1"/>
            <p:nvPr/>
          </p:nvSpPr>
          <p:spPr>
            <a:xfrm>
              <a:off x="0" y="538366"/>
              <a:ext cx="3075682" cy="57708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499"/>
                </a:lnSpc>
                <a:spcBef>
                  <a:spcPct val="0"/>
                </a:spcBef>
              </a:pPr>
              <a:r>
                <a:rPr lang="en-US" sz="2499" b="1" dirty="0">
                  <a:solidFill>
                    <a:srgbClr val="475570"/>
                  </a:solidFill>
                  <a:latin typeface="나눔바른고딕OTF" panose="020B0600000101010101" charset="-127"/>
                  <a:ea typeface="나눔바른고딕OTF" panose="020B0600000101010101" charset="-127"/>
                  <a:cs typeface="Canva Sans Medium"/>
                  <a:sym typeface="Canva Sans Medium"/>
                </a:rPr>
                <a:t>202049082</a:t>
              </a:r>
            </a:p>
          </p:txBody>
        </p:sp>
      </p:grpSp>
      <p:sp>
        <p:nvSpPr>
          <p:cNvPr id="9" name="TextBox 3">
            <a:extLst>
              <a:ext uri="{FF2B5EF4-FFF2-40B4-BE49-F238E27FC236}">
                <a16:creationId xmlns:a16="http://schemas.microsoft.com/office/drawing/2014/main" id="{4DD71F9C-0171-A04F-59BA-DD29FD9920EE}"/>
              </a:ext>
            </a:extLst>
          </p:cNvPr>
          <p:cNvSpPr txBox="1"/>
          <p:nvPr/>
        </p:nvSpPr>
        <p:spPr>
          <a:xfrm>
            <a:off x="1561696" y="4508711"/>
            <a:ext cx="15354704" cy="12695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>
              <a:lnSpc>
                <a:spcPct val="150000"/>
              </a:lnSpc>
              <a:spcBef>
                <a:spcPct val="0"/>
              </a:spcBef>
              <a:defRPr sz="6600" b="1">
                <a:solidFill>
                  <a:srgbClr val="475570"/>
                </a:solidFill>
                <a:latin typeface="나눔바른고딕OTF" panose="02020603020101020101" pitchFamily="18" charset="-127"/>
                <a:ea typeface="나눔바른고딕OTF" panose="02020603020101020101" pitchFamily="18" charset="-127"/>
                <a:cs typeface="Cabin Bold"/>
              </a:defRPr>
            </a:lvl1pPr>
          </a:lstStyle>
          <a:p>
            <a:r>
              <a:rPr lang="en-US" sz="6000" dirty="0">
                <a:latin typeface="나눔바른고딕OTF" panose="020B0600000101010101" charset="-127"/>
                <a:ea typeface="나눔바른고딕OTF" panose="020B0600000101010101" charset="-127"/>
                <a:sym typeface="Cabin Bold"/>
              </a:rPr>
              <a:t>Thank you, Questions?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21B79E-0D0F-D6E2-95F3-13694F2EB933}"/>
              </a:ext>
            </a:extLst>
          </p:cNvPr>
          <p:cNvSpPr txBox="1"/>
          <p:nvPr/>
        </p:nvSpPr>
        <p:spPr>
          <a:xfrm>
            <a:off x="9906000" y="495300"/>
            <a:ext cx="7571749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 sz="240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</a:defRPr>
            </a:lvl1pPr>
          </a:lstStyle>
          <a:p>
            <a:pPr marL="0" indent="0" algn="r">
              <a:lnSpc>
                <a:spcPct val="150000"/>
              </a:lnSpc>
              <a:buNone/>
            </a:pPr>
            <a:r>
              <a:rPr lang="en-US" altLang="ko-KR" dirty="0"/>
              <a:t>Next Pages → Dedicated Sections</a:t>
            </a:r>
          </a:p>
        </p:txBody>
      </p:sp>
    </p:spTree>
    <p:extLst>
      <p:ext uri="{BB962C8B-B14F-4D97-AF65-F5344CB8AC3E}">
        <p14:creationId xmlns:p14="http://schemas.microsoft.com/office/powerpoint/2010/main" val="1560220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9B91FB-E48E-9D8F-1E36-974C25885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6">
            <a:extLst>
              <a:ext uri="{FF2B5EF4-FFF2-40B4-BE49-F238E27FC236}">
                <a16:creationId xmlns:a16="http://schemas.microsoft.com/office/drawing/2014/main" id="{AE5027DE-2855-C9E8-C62F-CD6872943B30}"/>
              </a:ext>
            </a:extLst>
          </p:cNvPr>
          <p:cNvSpPr txBox="1"/>
          <p:nvPr/>
        </p:nvSpPr>
        <p:spPr>
          <a:xfrm>
            <a:off x="1191250" y="1254206"/>
            <a:ext cx="10314950" cy="17633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7000"/>
              </a:lnSpc>
              <a:spcBef>
                <a:spcPct val="0"/>
              </a:spcBef>
            </a:pPr>
            <a:r>
              <a:rPr lang="en-US" altLang="ko-KR" sz="5000" b="1" dirty="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  <a:cs typeface="Canva Sans Bold"/>
                <a:sym typeface="Canva Sans Bold"/>
              </a:rPr>
              <a:t>Version Control Practices</a:t>
            </a:r>
            <a:br>
              <a:rPr lang="en-US" altLang="ko-KR" sz="5000" b="1" dirty="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  <a:cs typeface="Canva Sans Bold"/>
                <a:sym typeface="Canva Sans Bold"/>
              </a:rPr>
            </a:br>
            <a:r>
              <a:rPr lang="en-US" altLang="ko-KR" sz="5000" b="1" dirty="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  <a:cs typeface="Canva Sans Bold"/>
                <a:sym typeface="Canva Sans Bold"/>
              </a:rPr>
              <a:t>and Commit History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32B9BAEF-EC7C-26F2-5CED-4A387E3FC12C}"/>
              </a:ext>
            </a:extLst>
          </p:cNvPr>
          <p:cNvSpPr txBox="1"/>
          <p:nvPr/>
        </p:nvSpPr>
        <p:spPr>
          <a:xfrm>
            <a:off x="1191250" y="830263"/>
            <a:ext cx="6962150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  <a:cs typeface="Cabin"/>
                <a:sym typeface="Cabin"/>
              </a:rPr>
              <a:t>COMP3011 Coursework 1</a:t>
            </a:r>
            <a:endParaRPr lang="en-US" sz="2000" dirty="0">
              <a:solidFill>
                <a:srgbClr val="475570"/>
              </a:solidFill>
              <a:latin typeface="나눔바른고딕OTF" panose="020B0600000101010101" charset="-127"/>
              <a:ea typeface="나눔바른고딕OTF" panose="020B0600000101010101" charset="-127"/>
              <a:cs typeface="Cabin"/>
              <a:sym typeface="Cabin"/>
            </a:endParaRPr>
          </a:p>
        </p:txBody>
      </p:sp>
      <p:sp>
        <p:nvSpPr>
          <p:cNvPr id="15" name="AutoShape 8">
            <a:extLst>
              <a:ext uri="{FF2B5EF4-FFF2-40B4-BE49-F238E27FC236}">
                <a16:creationId xmlns:a16="http://schemas.microsoft.com/office/drawing/2014/main" id="{E5B0C458-467E-481B-25AA-63F0FF17B895}"/>
              </a:ext>
            </a:extLst>
          </p:cNvPr>
          <p:cNvSpPr/>
          <p:nvPr/>
        </p:nvSpPr>
        <p:spPr>
          <a:xfrm>
            <a:off x="866882" y="3390900"/>
            <a:ext cx="7896117" cy="0"/>
          </a:xfrm>
          <a:prstGeom prst="line">
            <a:avLst/>
          </a:prstGeom>
          <a:ln w="19050" cap="flat">
            <a:solidFill>
              <a:srgbClr val="000000">
                <a:alpha val="19608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나눔바른고딕OTF" panose="020B0600000101010101" charset="-127"/>
              <a:ea typeface="나눔바른고딕OTF" panose="020B0600000101010101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C366ECC0-833B-EE4B-EF1A-A4561D72D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2250" y="-13079"/>
            <a:ext cx="8555750" cy="1033761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6A4CBB5-C166-2C7C-A399-E6E094E2E16B}"/>
              </a:ext>
            </a:extLst>
          </p:cNvPr>
          <p:cNvSpPr txBox="1"/>
          <p:nvPr/>
        </p:nvSpPr>
        <p:spPr>
          <a:xfrm>
            <a:off x="1191249" y="3764292"/>
            <a:ext cx="7571749" cy="55861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 sz="240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b="1" dirty="0"/>
              <a:t>Repository:</a:t>
            </a:r>
            <a:br>
              <a:rPr lang="en-US" altLang="ko-KR" dirty="0"/>
            </a:br>
            <a:r>
              <a:rPr lang="en-US" altLang="ko-KR" dirty="0">
                <a:hlinkClick r:id="rId4"/>
              </a:rPr>
              <a:t>https://github.com/20210330-12/COMP3011-Coursework1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Continuous commits throughout development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Separate commits for features, fixes, and documentation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Version control used to track API implementation and deployment changes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Commit history demonstrates iterative development</a:t>
            </a:r>
          </a:p>
        </p:txBody>
      </p:sp>
    </p:spTree>
    <p:extLst>
      <p:ext uri="{BB962C8B-B14F-4D97-AF65-F5344CB8AC3E}">
        <p14:creationId xmlns:p14="http://schemas.microsoft.com/office/powerpoint/2010/main" val="2737939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F5DE4A-BBA5-0431-ED06-5F092434A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6">
            <a:extLst>
              <a:ext uri="{FF2B5EF4-FFF2-40B4-BE49-F238E27FC236}">
                <a16:creationId xmlns:a16="http://schemas.microsoft.com/office/drawing/2014/main" id="{7BBDC6CC-6E99-38DA-A167-B74BCC8741F3}"/>
              </a:ext>
            </a:extLst>
          </p:cNvPr>
          <p:cNvSpPr txBox="1"/>
          <p:nvPr/>
        </p:nvSpPr>
        <p:spPr>
          <a:xfrm>
            <a:off x="1191250" y="1254206"/>
            <a:ext cx="10314950" cy="176330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7000"/>
              </a:lnSpc>
              <a:spcBef>
                <a:spcPct val="0"/>
              </a:spcBef>
            </a:pPr>
            <a:r>
              <a:rPr lang="en-US" altLang="ko-KR" sz="5000" b="1" dirty="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  <a:cs typeface="Canva Sans Bold"/>
                <a:sym typeface="Canva Sans Bold"/>
              </a:rPr>
              <a:t>API Documentation</a:t>
            </a:r>
            <a:br>
              <a:rPr lang="en-US" altLang="ko-KR" sz="5000" b="1" dirty="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  <a:cs typeface="Canva Sans Bold"/>
                <a:sym typeface="Canva Sans Bold"/>
              </a:rPr>
            </a:br>
            <a:r>
              <a:rPr lang="en-US" altLang="ko-KR" sz="5000" b="1" dirty="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  <a:cs typeface="Canva Sans Bold"/>
                <a:sym typeface="Canva Sans Bold"/>
              </a:rPr>
              <a:t>Overview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2A4722C6-18D0-B1FC-3820-199CE3D77A78}"/>
              </a:ext>
            </a:extLst>
          </p:cNvPr>
          <p:cNvSpPr txBox="1"/>
          <p:nvPr/>
        </p:nvSpPr>
        <p:spPr>
          <a:xfrm>
            <a:off x="1191250" y="830263"/>
            <a:ext cx="6962150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  <a:cs typeface="Cabin"/>
                <a:sym typeface="Cabin"/>
              </a:rPr>
              <a:t>COMP3011 Coursework 1</a:t>
            </a:r>
            <a:endParaRPr lang="en-US" sz="2000" dirty="0">
              <a:solidFill>
                <a:srgbClr val="475570"/>
              </a:solidFill>
              <a:latin typeface="나눔바른고딕OTF" panose="020B0600000101010101" charset="-127"/>
              <a:ea typeface="나눔바른고딕OTF" panose="020B0600000101010101" charset="-127"/>
              <a:cs typeface="Cabin"/>
              <a:sym typeface="Cabin"/>
            </a:endParaRPr>
          </a:p>
        </p:txBody>
      </p:sp>
      <p:sp>
        <p:nvSpPr>
          <p:cNvPr id="15" name="AutoShape 8">
            <a:extLst>
              <a:ext uri="{FF2B5EF4-FFF2-40B4-BE49-F238E27FC236}">
                <a16:creationId xmlns:a16="http://schemas.microsoft.com/office/drawing/2014/main" id="{76AC0223-084A-AFBC-2618-9E25E3B568ED}"/>
              </a:ext>
            </a:extLst>
          </p:cNvPr>
          <p:cNvSpPr/>
          <p:nvPr/>
        </p:nvSpPr>
        <p:spPr>
          <a:xfrm>
            <a:off x="866882" y="3390900"/>
            <a:ext cx="7896117" cy="0"/>
          </a:xfrm>
          <a:prstGeom prst="line">
            <a:avLst/>
          </a:prstGeom>
          <a:ln w="19050" cap="flat">
            <a:solidFill>
              <a:srgbClr val="000000">
                <a:alpha val="19608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나눔바른고딕OTF" panose="020B0600000101010101" charset="-127"/>
              <a:ea typeface="나눔바른고딕OTF" panose="020B0600000101010101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6147A3-965E-4F50-0324-42DFB05D5618}"/>
              </a:ext>
            </a:extLst>
          </p:cNvPr>
          <p:cNvSpPr txBox="1"/>
          <p:nvPr/>
        </p:nvSpPr>
        <p:spPr>
          <a:xfrm>
            <a:off x="1191250" y="3549030"/>
            <a:ext cx="7571749" cy="6140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 sz="240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The documentation includes: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Available endpoints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Request parameters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Response schemas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Authentication requirements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Example responses and error codes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The documentation is exported as a PDF(using </a:t>
            </a:r>
            <a:r>
              <a:rPr lang="en-US" altLang="ko-KR" dirty="0" err="1"/>
              <a:t>OpenAPI</a:t>
            </a:r>
            <a:r>
              <a:rPr lang="en-US" altLang="ko-KR" dirty="0"/>
              <a:t> schema) and referenced in the project README &amp; also Swagger UI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0AA850F-557B-5994-1DB4-BE23E86FE58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794" r="54025"/>
          <a:stretch>
            <a:fillRect/>
          </a:stretch>
        </p:blipFill>
        <p:spPr>
          <a:xfrm>
            <a:off x="8951129" y="-1"/>
            <a:ext cx="4867793" cy="1028698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8B46D9EA-9DDF-E06E-A053-AB913CDC347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51290"/>
          <a:stretch>
            <a:fillRect/>
          </a:stretch>
        </p:blipFill>
        <p:spPr>
          <a:xfrm>
            <a:off x="13818923" y="-1"/>
            <a:ext cx="4460171" cy="10286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7622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6C389-EB73-8DB0-5353-9FA3278516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6">
            <a:extLst>
              <a:ext uri="{FF2B5EF4-FFF2-40B4-BE49-F238E27FC236}">
                <a16:creationId xmlns:a16="http://schemas.microsoft.com/office/drawing/2014/main" id="{5CC3B857-A9E5-EE21-4913-597F83F1F0CA}"/>
              </a:ext>
            </a:extLst>
          </p:cNvPr>
          <p:cNvSpPr txBox="1"/>
          <p:nvPr/>
        </p:nvSpPr>
        <p:spPr>
          <a:xfrm>
            <a:off x="1191250" y="1254206"/>
            <a:ext cx="10314950" cy="8656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7000"/>
              </a:lnSpc>
              <a:spcBef>
                <a:spcPct val="0"/>
              </a:spcBef>
            </a:pPr>
            <a:r>
              <a:rPr lang="en-US" altLang="ko-KR" sz="5000" b="1" dirty="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  <a:cs typeface="Canva Sans Bold"/>
                <a:sym typeface="Canva Sans Bold"/>
              </a:rPr>
              <a:t>Technical Report Highlights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0737904C-BF15-58A7-4E96-EE802F180FEF}"/>
              </a:ext>
            </a:extLst>
          </p:cNvPr>
          <p:cNvSpPr txBox="1"/>
          <p:nvPr/>
        </p:nvSpPr>
        <p:spPr>
          <a:xfrm>
            <a:off x="1191250" y="830263"/>
            <a:ext cx="6962150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  <a:cs typeface="Cabin"/>
                <a:sym typeface="Cabin"/>
              </a:rPr>
              <a:t>COMP3011 Coursework 1</a:t>
            </a:r>
            <a:endParaRPr lang="en-US" sz="2000" dirty="0">
              <a:solidFill>
                <a:srgbClr val="475570"/>
              </a:solidFill>
              <a:latin typeface="나눔바른고딕OTF" panose="020B0600000101010101" charset="-127"/>
              <a:ea typeface="나눔바른고딕OTF" panose="020B0600000101010101" charset="-127"/>
              <a:cs typeface="Cabin"/>
              <a:sym typeface="Cabi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5B9A404-2709-1142-D66E-FD27B8AAADEA}"/>
              </a:ext>
            </a:extLst>
          </p:cNvPr>
          <p:cNvSpPr txBox="1"/>
          <p:nvPr/>
        </p:nvSpPr>
        <p:spPr>
          <a:xfrm>
            <a:off x="1191250" y="2897622"/>
            <a:ext cx="9543002" cy="61401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 sz="240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The technical report documents the full development process.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Key aspects discussed in the report include: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System architecture and technology stack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Database schema and entity relationships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API design and analytics endpoints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Dataset import workflow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Deployment on AWS EC2 using Nginx and </a:t>
            </a:r>
            <a:r>
              <a:rPr lang="en-US" altLang="ko-KR" dirty="0" err="1"/>
              <a:t>Gunicorn</a:t>
            </a: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Testing and evaluation of the API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Reflection on Generative AI usage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BF51419-1B6E-D135-5EEE-05CA8F7E6C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7755" y="1"/>
            <a:ext cx="7210245" cy="10287000"/>
          </a:xfrm>
          <a:prstGeom prst="rect">
            <a:avLst/>
          </a:prstGeom>
        </p:spPr>
      </p:pic>
      <p:sp>
        <p:nvSpPr>
          <p:cNvPr id="5" name="AutoShape 8">
            <a:extLst>
              <a:ext uri="{FF2B5EF4-FFF2-40B4-BE49-F238E27FC236}">
                <a16:creationId xmlns:a16="http://schemas.microsoft.com/office/drawing/2014/main" id="{33B6B578-E7E7-36B1-1F09-5BC968F76134}"/>
              </a:ext>
            </a:extLst>
          </p:cNvPr>
          <p:cNvSpPr/>
          <p:nvPr/>
        </p:nvSpPr>
        <p:spPr>
          <a:xfrm>
            <a:off x="866883" y="2504321"/>
            <a:ext cx="9648718" cy="0"/>
          </a:xfrm>
          <a:prstGeom prst="line">
            <a:avLst/>
          </a:prstGeom>
          <a:ln w="19050" cap="flat">
            <a:solidFill>
              <a:srgbClr val="000000">
                <a:alpha val="19608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나눔바른고딕OTF" panose="020B0600000101010101" charset="-127"/>
              <a:ea typeface="나눔바른고딕OTF" panose="020B0600000101010101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584283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C32EB9-1828-616F-26FB-A0A40C92F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6">
            <a:extLst>
              <a:ext uri="{FF2B5EF4-FFF2-40B4-BE49-F238E27FC236}">
                <a16:creationId xmlns:a16="http://schemas.microsoft.com/office/drawing/2014/main" id="{2BBCEF0B-CC67-AC4B-0D14-643FD29F167C}"/>
              </a:ext>
            </a:extLst>
          </p:cNvPr>
          <p:cNvSpPr txBox="1"/>
          <p:nvPr/>
        </p:nvSpPr>
        <p:spPr>
          <a:xfrm>
            <a:off x="1191250" y="1254206"/>
            <a:ext cx="10314950" cy="8656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lvl="0">
              <a:lnSpc>
                <a:spcPts val="7000"/>
              </a:lnSpc>
              <a:spcBef>
                <a:spcPct val="0"/>
              </a:spcBef>
            </a:pPr>
            <a:r>
              <a:rPr lang="en-US" altLang="ko-KR" sz="5000" b="1" dirty="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  <a:cs typeface="Canva Sans Bold"/>
                <a:sym typeface="Canva Sans Bold"/>
              </a:rPr>
              <a:t>Submission Deliverables</a:t>
            </a:r>
          </a:p>
        </p:txBody>
      </p:sp>
      <p:sp>
        <p:nvSpPr>
          <p:cNvPr id="14" name="TextBox 7">
            <a:extLst>
              <a:ext uri="{FF2B5EF4-FFF2-40B4-BE49-F238E27FC236}">
                <a16:creationId xmlns:a16="http://schemas.microsoft.com/office/drawing/2014/main" id="{907687CA-D1C5-7E5C-E1A9-356276361F1A}"/>
              </a:ext>
            </a:extLst>
          </p:cNvPr>
          <p:cNvSpPr txBox="1"/>
          <p:nvPr/>
        </p:nvSpPr>
        <p:spPr>
          <a:xfrm>
            <a:off x="1191250" y="830263"/>
            <a:ext cx="6962150" cy="3462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800"/>
              </a:lnSpc>
              <a:spcBef>
                <a:spcPct val="0"/>
              </a:spcBef>
            </a:pPr>
            <a:r>
              <a:rPr lang="en-US" altLang="ko-KR" sz="2000" dirty="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  <a:cs typeface="Cabin"/>
                <a:sym typeface="Cabin"/>
              </a:rPr>
              <a:t>COMP3011 Coursework 1</a:t>
            </a:r>
            <a:endParaRPr lang="en-US" sz="2000" dirty="0">
              <a:solidFill>
                <a:srgbClr val="475570"/>
              </a:solidFill>
              <a:latin typeface="나눔바른고딕OTF" panose="020B0600000101010101" charset="-127"/>
              <a:ea typeface="나눔바른고딕OTF" panose="020B0600000101010101" charset="-127"/>
              <a:cs typeface="Cabin"/>
              <a:sym typeface="Cabin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31131B-F14B-515D-6555-59E098220215}"/>
              </a:ext>
            </a:extLst>
          </p:cNvPr>
          <p:cNvSpPr txBox="1"/>
          <p:nvPr/>
        </p:nvSpPr>
        <p:spPr>
          <a:xfrm>
            <a:off x="1191250" y="2897622"/>
            <a:ext cx="7800350" cy="6694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342900" indent="-342900">
              <a:buFont typeface="Arial" panose="020B0604020202020204" pitchFamily="34" charset="0"/>
              <a:buChar char="•"/>
              <a:defRPr sz="2400">
                <a:solidFill>
                  <a:srgbClr val="475570"/>
                </a:solidFill>
                <a:latin typeface="나눔바른고딕OTF" panose="020B0600000101010101" charset="-127"/>
                <a:ea typeface="나눔바른고딕OTF" panose="020B0600000101010101" charset="-127"/>
              </a:defRPr>
            </a:lvl1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ko-KR" dirty="0"/>
              <a:t>The following deliverables are provided for the coursework submission:</a:t>
            </a:r>
          </a:p>
          <a:p>
            <a:pPr marL="0" indent="0">
              <a:lnSpc>
                <a:spcPct val="150000"/>
              </a:lnSpc>
              <a:buNone/>
            </a:pPr>
            <a:endParaRPr lang="en-US" altLang="ko-KR" dirty="0"/>
          </a:p>
          <a:p>
            <a:pPr>
              <a:lnSpc>
                <a:spcPct val="150000"/>
              </a:lnSpc>
            </a:pPr>
            <a:r>
              <a:rPr lang="en-US" altLang="ko-KR" dirty="0"/>
              <a:t>Public GitHub repository containing the source code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README file with project overview and setup instructions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API documentation exported as a PDF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Technical report describing system design and implementation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Presentation slides used for the oral examination</a:t>
            </a:r>
          </a:p>
          <a:p>
            <a:pPr>
              <a:lnSpc>
                <a:spcPct val="150000"/>
              </a:lnSpc>
            </a:pPr>
            <a:r>
              <a:rPr lang="en-US" altLang="ko-KR" dirty="0"/>
              <a:t>ChatGPT conversation export provided as supplementary material</a:t>
            </a:r>
          </a:p>
        </p:txBody>
      </p:sp>
      <p:sp>
        <p:nvSpPr>
          <p:cNvPr id="5" name="AutoShape 8">
            <a:extLst>
              <a:ext uri="{FF2B5EF4-FFF2-40B4-BE49-F238E27FC236}">
                <a16:creationId xmlns:a16="http://schemas.microsoft.com/office/drawing/2014/main" id="{D64B76F0-A2F3-76F8-D5C7-D3703637BEA0}"/>
              </a:ext>
            </a:extLst>
          </p:cNvPr>
          <p:cNvSpPr/>
          <p:nvPr/>
        </p:nvSpPr>
        <p:spPr>
          <a:xfrm>
            <a:off x="866883" y="2504321"/>
            <a:ext cx="8124717" cy="0"/>
          </a:xfrm>
          <a:prstGeom prst="line">
            <a:avLst/>
          </a:prstGeom>
          <a:ln w="19050" cap="flat">
            <a:solidFill>
              <a:srgbClr val="000000">
                <a:alpha val="19608"/>
              </a:srgbClr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>
              <a:latin typeface="나눔바른고딕OTF" panose="020B0600000101010101" charset="-127"/>
              <a:ea typeface="나눔바른고딕OTF" panose="020B0600000101010101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1CE3AE5-4012-5311-F9C1-E6930FBDF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1693" y="0"/>
            <a:ext cx="8786308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7462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3568</TotalTime>
  <Words>434</Words>
  <Application>Microsoft Office PowerPoint</Application>
  <PresentationFormat>사용자 지정</PresentationFormat>
  <Paragraphs>109</Paragraphs>
  <Slides>10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5" baseType="lpstr">
      <vt:lpstr>맑은 고딕</vt:lpstr>
      <vt:lpstr>Arial</vt:lpstr>
      <vt:lpstr>Calibri</vt:lpstr>
      <vt:lpstr>나눔바른고딕OTF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아이보리 다크 블루 미니멀한 포트폴리오 프레젠테이션</dc:title>
  <dc:creator>송한이</dc:creator>
  <cp:lastModifiedBy>HANY SONG</cp:lastModifiedBy>
  <cp:revision>255</cp:revision>
  <dcterms:created xsi:type="dcterms:W3CDTF">2006-08-16T00:00:00Z</dcterms:created>
  <dcterms:modified xsi:type="dcterms:W3CDTF">2026-03-13T03:35:16Z</dcterms:modified>
  <dc:identifier>DAGotBU9v5k</dc:identifier>
</cp:coreProperties>
</file>